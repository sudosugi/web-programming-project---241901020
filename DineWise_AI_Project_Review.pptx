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9" r:id="rId20"/>
    <p:sldId id="268" r:id="rId19"/>
    <p:sldId id="270" r:id="rId21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V" userId="5e3d3d80d37fbd04" providerId="LiveId" clId="{B05AFCA5-E326-4C66-8A4D-51A8C120871E}"/>
    <pc:docChg chg="modSld">
      <pc:chgData name="Bharath V" userId="5e3d3d80d37fbd04" providerId="LiveId" clId="{B05AFCA5-E326-4C66-8A4D-51A8C120871E}" dt="2026-10-15T04:50:42.499" v="52" actId="20577"/>
      <pc:docMkLst>
        <pc:docMk/>
      </pc:docMkLst>
      <pc:sldChg chg="modSp mod">
        <pc:chgData name="Bharath V" userId="5e3d3d80d37fbd04" providerId="LiveId" clId="{B05AFCA5-E326-4C66-8A4D-51A8C120871E}" dt="2026-10-15T04:50:42.499" v="52" actId="20577"/>
        <pc:sldMkLst>
          <pc:docMk/>
          <pc:sldMk cId="0" sldId="266"/>
        </pc:sldMkLst>
        <pc:spChg chg="mod">
          <ac:chgData name="Bharath V" userId="5e3d3d80d37fbd04" providerId="LiveId" clId="{B05AFCA5-E326-4C66-8A4D-51A8C120871E}" dt="2026-10-15T04:50:42.499" v="52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00" Type="http://schemas.openxmlformats.org/officeDocument/2006/relationships/image" Target="../media/fd_13_0.png"/><Relationship Id="rId101" Type="http://schemas.openxmlformats.org/officeDocument/2006/relationships/image" Target="../media/fd_13_1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00" Type="http://schemas.openxmlformats.org/officeDocument/2006/relationships/image" Target="../media/fd_14_0.png"/><Relationship Id="rId101" Type="http://schemas.openxmlformats.org/officeDocument/2006/relationships/image" Target="../media/fd_14_1.png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00" Type="http://schemas.openxmlformats.org/officeDocument/2006/relationships/image" Target="../media/fd_15_0.png"/><Relationship Id="rId101" Type="http://schemas.openxmlformats.org/officeDocument/2006/relationships/image" Target="../media/fd_15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1168" cy="6711696"/>
          </a:xfrm>
          <a:prstGeom prst="rect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926080" cy="9451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828800"/>
            <a:ext cx="2514600" cy="310896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24414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4F4F6"/>
                </a:solidFill>
                <a:latin typeface="Aptos"/>
              </a:defRPr>
            </a:pPr>
            <a:r>
              <a:rPr lang="en-US" sz="1000" b="1" i="0" dirty="0">
                <a:solidFill>
                  <a:srgbClr val="F4F4F6"/>
                </a:solidFill>
                <a:latin typeface="Aptos"/>
              </a:rPr>
              <a:t>PROJECT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6400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rPr lang="en-US" sz="4200" b="1" i="0" dirty="0">
                <a:solidFill>
                  <a:srgbClr val="FFFFFF"/>
                </a:solidFill>
                <a:latin typeface="Aptos"/>
              </a:rPr>
              <a:t>DINEWISE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6583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400" b="1" i="0">
                <a:solidFill>
                  <a:srgbClr val="FF6B81"/>
                </a:solidFill>
                <a:latin typeface="Aptos"/>
              </a:defRPr>
            </a:pPr>
            <a:r>
              <a:rPr lang="en-US" sz="2400" b="1" i="0" dirty="0">
                <a:solidFill>
                  <a:srgbClr val="FF6B81"/>
                </a:solidFill>
                <a:latin typeface="Aptos"/>
              </a:rPr>
              <a:t>AI-Powered Restaurant Recommender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22191"/>
            <a:ext cx="62179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 i="0">
                <a:solidFill>
                  <a:srgbClr val="DCD6D9"/>
                </a:solidFill>
                <a:latin typeface="Aptos"/>
              </a:defRPr>
            </a:pPr>
            <a:r>
              <a:rPr lang="en-US" sz="1700" b="0" i="0" dirty="0">
                <a:solidFill>
                  <a:srgbClr val="DCD6D9"/>
                </a:solidFill>
                <a:latin typeface="Aptos"/>
              </a:rPr>
              <a:t>A rule-based expert system that recommends restaurants using forward chaining and certainty factors.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554480"/>
            <a:ext cx="3749039" cy="4114800"/>
          </a:xfrm>
          <a:prstGeom prst="roundRect">
            <a:avLst>
              <a:gd name="adj" fmla="val 12000"/>
            </a:avLst>
          </a:prstGeom>
          <a:solidFill>
            <a:srgbClr val="1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2331720" cy="2971800"/>
          </a:xfrm>
          <a:prstGeom prst="roundRect">
            <a:avLst>
              <a:gd name="adj" fmla="val 12000"/>
            </a:avLst>
          </a:prstGeom>
          <a:solidFill>
            <a:srgbClr val="15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66760" y="20116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2112264"/>
            <a:ext cx="1737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lang="en-US" sz="1000" b="1" i="0" dirty="0">
                <a:solidFill>
                  <a:srgbClr val="FFFFFF"/>
                </a:solidFill>
                <a:latin typeface="Aptos"/>
              </a:rPr>
              <a:t>DINEWISE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697480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2743200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779776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Biryani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2807208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95360" y="3319272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2792" y="336499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401568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Cafe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3429000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95360" y="3941064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2792" y="3986784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023360"/>
            <a:ext cx="1051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Pizza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4050792"/>
            <a:ext cx="292608" cy="16459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13648" y="4645152"/>
            <a:ext cx="1828800" cy="201168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5552" y="5257800"/>
            <a:ext cx="3337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rPr lang="en-US" sz="1100" b="0" i="0" dirty="0">
                <a:solidFill>
                  <a:srgbClr val="FFFFFF"/>
                </a:solidFill>
                <a:latin typeface="Aptos"/>
              </a:rPr>
              <a:t>Ask  •  Reason  •  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15000"/>
            <a:ext cx="68580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lang="en-US" sz="1300" b="0" i="0" dirty="0">
                <a:solidFill>
                  <a:srgbClr val="FFFFFF"/>
                </a:solidFill>
                <a:latin typeface="Aptos"/>
              </a:rPr>
              <a:t>Presented by: </a:t>
            </a:r>
            <a:r>
              <a:rPr lang="en-US" sz="1300" b="0" i="0" dirty="0">
                <a:solidFill>
                  <a:srgbClr val="FFFFFF"/>
                </a:solidFill>
                <a:latin typeface="Aptos"/>
              </a:rPr>
              <a:t>[Your Name]</a:t>
            </a:r>
            <a:r>
              <a:rPr lang="en-US" sz="1300" b="0" i="0" dirty="0">
                <a:solidFill>
                  <a:srgbClr val="FFFFFF"/>
                </a:solidFill>
                <a:latin typeface="Aptos"/>
              </a:rPr>
              <a:t>   |   Reg. No.: </a:t>
            </a:r>
            <a:r>
              <a:rPr lang="en-US" sz="1300" b="0" i="0" dirty="0">
                <a:solidFill>
                  <a:srgbClr val="FFFFFF"/>
                </a:solidFill>
                <a:latin typeface="Aptos"/>
              </a:rPr>
              <a:t>[Reg. No.]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49808" y="6080760"/>
            <a:ext cx="7406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D4CCD0"/>
                </a:solidFill>
                <a:latin typeface="Aptos"/>
              </a:defRPr>
            </a:pPr>
            <a:r>
              <a:rPr lang="en-US" sz="1100" b="0" i="0" dirty="0">
                <a:solidFill>
                  <a:srgbClr val="D4CCD0"/>
                </a:solidFill>
                <a:latin typeface="Aptos"/>
              </a:rPr>
              <a:t>Department of Computer Science and Engineering (Cyber Security)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1447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100" b="1" i="0">
                <a:solidFill>
                  <a:srgbClr val="FF6B81"/>
                </a:solidFill>
                <a:latin typeface="Aptos"/>
              </a:defRPr>
            </a:pPr>
            <a:r>
              <a:rPr lang="en-US" sz="1100" b="1" i="0" dirty="0">
                <a:solidFill>
                  <a:srgbClr val="FF6B81"/>
                </a:solidFill>
                <a:latin typeface="Aptos"/>
              </a:rPr>
              <a:t>Rajalakshmi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01 • INTRODUCTION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82296" cy="1965960"/>
          </a:xfrm>
          <a:prstGeom prst="rect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58191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93392"/>
            <a:ext cx="487375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DineWise AI is a rule-based expert system that recommends restaurants in Chennai, Bangalore, Hyderabad and Kochi. 93 IF–THEN rules reason over 446 restaurants to pick the top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82296" cy="196596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81912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6B81"/>
                </a:solidFill>
                <a:latin typeface="Aptos"/>
              </a:defRPr>
            </a:pPr>
            <a:r>
              <a:rPr lang="en-US" sz="1700" b="1" i="0" dirty="0">
                <a:solidFill>
                  <a:srgbClr val="FF6B81"/>
                </a:solidFill>
                <a:latin typeface="Aptos"/>
              </a:rPr>
              <a:t>WHY THIS PROJECT?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93392"/>
            <a:ext cx="496519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Diners struggle to choose from hundreds of options, and most apps never explain their picks. DineWise shows exactly which rules led to each recommendation.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PROJECT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6B81"/>
                </a:solidFill>
                <a:latin typeface="Aptos"/>
              </a:defRPr>
            </a:pPr>
            <a:r>
              <a:rPr lang="en-US" sz="1800" b="1" i="0" dirty="0">
                <a:solidFill>
                  <a:srgbClr val="FF6B81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Diner preferences 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66744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6B81"/>
                </a:solidFill>
                <a:latin typeface="Aptos"/>
              </a:defRPr>
            </a:pPr>
            <a:r>
              <a:rPr lang="en-US" sz="1800" b="1" i="0" dirty="0">
                <a:solidFill>
                  <a:srgbClr val="FF6B81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3944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Reason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Forward-chaining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3096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6B81"/>
                </a:solidFill>
                <a:latin typeface="Aptos"/>
              </a:defRPr>
            </a:pPr>
            <a:r>
              <a:rPr lang="en-US" sz="1800" b="1" i="0" dirty="0">
                <a:solidFill>
                  <a:srgbClr val="FF6B81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Certainty factor %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42976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99448" y="444398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FF6B81"/>
                </a:solidFill>
                <a:latin typeface="Aptos"/>
              </a:defRPr>
            </a:pPr>
            <a:r>
              <a:rPr lang="en-US" sz="1800" b="1" i="0" dirty="0">
                <a:solidFill>
                  <a:srgbClr val="FF6B81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442569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484632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“How?” and “Why not?”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02 • PROJECT DEFINITION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12080" cy="4434840"/>
          </a:xfrm>
          <a:prstGeom prst="roundRect">
            <a:avLst>
              <a:gd name="adj" fmla="val 12000"/>
            </a:avLst>
          </a:prstGeom>
          <a:solidFill>
            <a:srgbClr val="12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FF6B81"/>
                </a:solidFill>
                <a:latin typeface="Aptos"/>
              </a:defRPr>
            </a:pPr>
            <a:r>
              <a:rPr lang="en-US" sz="1900" b="1" i="0" dirty="0">
                <a:solidFill>
                  <a:srgbClr val="FF6B81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43484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0" i="0">
                <a:solidFill>
                  <a:srgbClr val="FFFFFF"/>
                </a:solidFill>
                <a:latin typeface="Aptos"/>
              </a:defRPr>
            </a:pPr>
            <a:r>
              <a:rPr lang="en-US" sz="1900" b="0" i="0" dirty="0">
                <a:solidFill>
                  <a:srgbClr val="FFFFFF"/>
                </a:solidFill>
                <a:latin typeface="Aptos"/>
              </a:rPr>
              <a:t>Choosing a restaurant means balancing city, cuisine, budget, diet, group and occasion. Simple filters give empty or unexplained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9651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6B81"/>
                </a:solidFill>
                <a:latin typeface="Aptos"/>
              </a:defRPr>
            </a:pPr>
            <a:r>
              <a:rPr lang="en-US" sz="1600" b="1" i="0" dirty="0">
                <a:solidFill>
                  <a:srgbClr val="FF6B81"/>
                </a:solidFill>
                <a:latin typeface="Aptos"/>
              </a:rPr>
              <a:t>PROJECT 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4297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rPr lang="en-US" sz="1700" b="0" i="0" dirty="0">
                <a:solidFill>
                  <a:srgbClr val="FFFFFF"/>
                </a:solidFill>
                <a:latin typeface="Aptos"/>
              </a:rPr>
              <a:t>Build an explainable expert system that recommends the best 3 restaurants and justifies each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FF2D55"/>
                </a:solidFill>
                <a:latin typeface="Aptos"/>
              </a:defRPr>
            </a:pPr>
            <a:r>
              <a:rPr lang="en-US" sz="1900" b="1" i="0" dirty="0">
                <a:solidFill>
                  <a:srgbClr val="FF2D55"/>
                </a:solidFill>
                <a:latin typeface="Aptos"/>
              </a:rPr>
              <a:t>KEY 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116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1396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4F4F6"/>
                </a:solidFill>
                <a:latin typeface="Aptos"/>
              </a:defRPr>
            </a:pPr>
            <a:r>
              <a:rPr lang="en-US" sz="1300" b="1" i="0" dirty="0">
                <a:solidFill>
                  <a:srgbClr val="F4F4F6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116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Encode expert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3317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Write 93 IF–THEN rules as data, separate from the engine.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9260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30540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4F4F6"/>
                </a:solidFill>
                <a:latin typeface="Aptos"/>
              </a:defRPr>
            </a:pPr>
            <a:r>
              <a:rPr lang="en-US" sz="1300" b="1" i="0" dirty="0">
                <a:solidFill>
                  <a:srgbClr val="F4F4F6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9260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Reason with forward chaining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2461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Match → resolve → act until no rule can fire.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8404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39684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4F4F6"/>
                </a:solidFill>
                <a:latin typeface="Aptos"/>
              </a:defRPr>
            </a:pPr>
            <a:r>
              <a:rPr lang="en-US" sz="1300" b="1" i="0" dirty="0">
                <a:solidFill>
                  <a:srgbClr val="F4F4F6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8404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Rank with 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1605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Combine evidence using MYCIN certainty factors.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7548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4882896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4F4F6"/>
                </a:solidFill>
                <a:latin typeface="Aptos"/>
              </a:defRPr>
            </a:pPr>
            <a:r>
              <a:rPr lang="en-US" sz="1300" b="1" i="0" dirty="0">
                <a:solidFill>
                  <a:srgbClr val="F4F4F6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754880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Explain every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074920"/>
            <a:ext cx="4343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Show the inference trace and answer “Why not X?”.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Existing Approach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03 • SOLUTION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17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4251960"/>
          </a:xfrm>
          <a:prstGeom prst="roundRect">
            <a:avLst>
              <a:gd name="adj" fmla="val 12000"/>
            </a:avLst>
          </a:prstGeom>
          <a:solidFill>
            <a:srgbClr val="1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783080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26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1819656"/>
            <a:ext cx="235000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B5B5BE"/>
                </a:solidFill>
                <a:latin typeface="Aptos"/>
              </a:defRPr>
            </a:pPr>
            <a:r>
              <a:rPr lang="en-US" sz="1000" b="1" i="0" dirty="0">
                <a:solidFill>
                  <a:srgbClr val="B5B5BE"/>
                </a:solidFill>
                <a:latin typeface="Aptos"/>
              </a:rPr>
              <a:t>EXISTING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52628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Fixed filters with hidden scoring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Empty pages when nothing matches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Diet needs not strictly enforced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No reason given for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783080"/>
            <a:ext cx="2148840" cy="310896"/>
          </a:xfrm>
          <a:prstGeom prst="roundRect">
            <a:avLst>
              <a:gd name="adj" fmla="val 12000"/>
            </a:avLst>
          </a:prstGeom>
          <a:solidFill>
            <a:srgbClr val="2A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819656"/>
            <a:ext cx="207568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F4D6D"/>
                </a:solidFill>
                <a:latin typeface="Aptos"/>
              </a:defRPr>
            </a:pPr>
            <a:r>
              <a:rPr lang="en-US" sz="1000" b="1" i="0" dirty="0">
                <a:solidFill>
                  <a:srgbClr val="FF4D6D"/>
                </a:solidFill>
                <a:latin typeface="Aptos"/>
              </a:rPr>
              <a:t>DINEWISE AI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452628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93 rules drive every decision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Constraint relaxation, never empty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Pure veg is always a hard rule</a:t>
            </a:r>
          </a:p>
          <a:p>
            <a:pPr>
              <a:spcAft>
                <a:spcPts val="600"/>
              </a:spcAft>
              <a:defRPr sz="1800" b="0" i="0">
                <a:solidFill>
                  <a:srgbClr val="F4F4F6"/>
                </a:solidFill>
                <a:latin typeface="Aptos"/>
              </a:defRPr>
            </a:pPr>
            <a:r>
              <a:rPr lang="en-US" sz="1800" b="0" i="0" dirty="0">
                <a:solidFill>
                  <a:srgbClr val="F4F4F6"/>
                </a:solidFill>
                <a:latin typeface="Aptos"/>
              </a:rPr>
              <a:t>• “How?” and “Why not?” explanations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1">
                <a:solidFill>
                  <a:srgbClr val="A9A4AD"/>
                </a:solidFill>
                <a:latin typeface="Aptos"/>
              </a:defRPr>
            </a:pPr>
            <a:r>
              <a:rPr lang="en-US" sz="1200" b="0" i="1" dirty="0">
                <a:solidFill>
                  <a:srgbClr val="A9A4AD"/>
                </a:solidFill>
                <a:latin typeface="Aptos"/>
              </a:rPr>
              <a:t>The existing approach describes typical filter-based recommenders, including this project’s own version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04 • DESIGN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COMPONENT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6B81"/>
                </a:solidFill>
                <a:latin typeface="Aptos"/>
              </a:defRPr>
            </a:pPr>
            <a:r>
              <a:rPr lang="en-US" sz="1300" b="1" i="0" dirty="0">
                <a:solidFill>
                  <a:srgbClr val="FF6B81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Diner preferences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5468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FLASK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app.py,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87568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RECOMMENDER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Two-stage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96596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196596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7" y="2167128"/>
            <a:ext cx="1746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2496312"/>
            <a:ext cx="1746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Forward chaining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3886200"/>
            <a:ext cx="1600200" cy="9601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12680" y="3886200"/>
            <a:ext cx="1600200" cy="109728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7" y="4087368"/>
            <a:ext cx="138074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6B81"/>
                </a:solidFill>
                <a:latin typeface="Aptos"/>
              </a:defRPr>
            </a:pPr>
            <a:r>
              <a:rPr lang="en-US" sz="1300" b="1" i="0" dirty="0">
                <a:solidFill>
                  <a:srgbClr val="FF6B81"/>
                </a:solidFill>
                <a:latin typeface="Aptos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7" y="4416552"/>
            <a:ext cx="13807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Top 3 + reasons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97480" y="2450592"/>
            <a:ext cx="457200" cy="0"/>
          </a:xfrm>
          <a:prstGeom prst="line">
            <a:avLst/>
          </a:prstGeom>
          <a:ln w="3175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0" y="2450592"/>
            <a:ext cx="457200" cy="0"/>
          </a:xfrm>
          <a:prstGeom prst="line">
            <a:avLst/>
          </a:prstGeom>
          <a:ln w="3175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2450592"/>
            <a:ext cx="457200" cy="0"/>
          </a:xfrm>
          <a:prstGeom prst="line">
            <a:avLst/>
          </a:prstGeom>
          <a:ln w="3175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66960" y="2606040"/>
            <a:ext cx="777240" cy="1280160"/>
          </a:xfrm>
          <a:prstGeom prst="line">
            <a:avLst/>
          </a:prstGeom>
          <a:ln w="3175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" y="3886200"/>
            <a:ext cx="8138160" cy="1051560"/>
          </a:xfrm>
          <a:prstGeom prst="roundRect">
            <a:avLst>
              <a:gd name="adj" fmla="val 12000"/>
            </a:avLst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09651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INTERACTION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069080"/>
            <a:ext cx="5897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F4F4F6"/>
                </a:solidFill>
                <a:latin typeface="Aptos"/>
              </a:defRPr>
            </a:pPr>
            <a:r>
              <a:rPr lang="en-US" sz="1300" b="0" i="0" dirty="0">
                <a:solidFill>
                  <a:srgbClr val="F4F4F6"/>
                </a:solidFill>
                <a:latin typeface="Aptos"/>
              </a:rPr>
              <a:t>Form input  →  Stage 1: 24 profile rules  →  Stage 2: 69 rules per restaurant  →  CF ranking  →  Relax if no match  →  Top 3 +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 i="1">
                <a:solidFill>
                  <a:srgbClr val="A9A4AD"/>
                </a:solidFill>
                <a:latin typeface="Aptos"/>
              </a:defRPr>
            </a:pPr>
            <a:r>
              <a:rPr lang="en-US" sz="1300" b="0" i="1" dirty="0">
                <a:solidFill>
                  <a:srgbClr val="A9A4AD"/>
                </a:solidFill>
                <a:latin typeface="Aptos"/>
              </a:rPr>
              <a:t>The inference engine is domain-free: all restaurant knowledge lives in rules.py and the fact base (data/restaurants.csv), so rules can change without touching the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Core Modules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06 • FUNCTIONAL MODULES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Inference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Working memory, conflict set and recognise–act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Rule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93 IF–THEN rules written as data in rules.py.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85632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Recommender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Two-stage reasoning, ranking and top-3 selection.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7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Constraint Relaxation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Relax must-have, cuisine, then city; never pure veg.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63440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0016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Explanation Facility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Inference trace plus “How?” and “Why not X?”.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02752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85632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Web UI &amp; JSON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Flask pages and the /api/recommend endpoint.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1">
                <a:solidFill>
                  <a:srgbClr val="A9A4AD"/>
                </a:solidFill>
                <a:latin typeface="Aptos"/>
              </a:defRPr>
            </a:pPr>
            <a:r>
              <a:rPr lang="en-US" sz="1100" b="0" i="1" dirty="0">
                <a:solidFill>
                  <a:srgbClr val="A9A4AD"/>
                </a:solidFill>
                <a:latin typeface="Aptos"/>
              </a:rPr>
              <a:t>Conflict resolution: highest salience → most specific rule (more conditions) → rule order. Each rule fires at most once per run (refraction).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07 • IMPLEMENTATION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1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A9A4AD"/>
                </a:solidFill>
                <a:latin typeface="Aptos"/>
              </a:defRPr>
            </a:pPr>
            <a:r>
              <a:rPr lang="en-US" sz="1000" b="1" i="0" dirty="0">
                <a:solidFill>
                  <a:srgbClr val="A9A4AD"/>
                </a:solidFill>
                <a:latin typeface="Aptos"/>
              </a:rPr>
              <a:t>CORE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Inference engine, rule base and recommender, written from scratch.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38728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1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A9A4AD"/>
                </a:solidFill>
                <a:latin typeface="Aptos"/>
              </a:defRPr>
            </a:pPr>
            <a:r>
              <a:rPr lang="en-US" sz="1000" b="1" i="0" dirty="0">
                <a:solidFill>
                  <a:srgbClr val="A9A4AD"/>
                </a:solidFill>
                <a:latin typeface="Aptos"/>
              </a:rPr>
              <a:t>WEB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Routes, Jinja2 templates and the JSON 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91656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1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HTML +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A9A4AD"/>
                </a:solidFill>
                <a:latin typeface="Aptos"/>
              </a:defRPr>
            </a:pPr>
            <a:r>
              <a:rPr lang="en-US" sz="1000" b="1" i="0" dirty="0">
                <a:solidFill>
                  <a:srgbClr val="A9A4AD"/>
                </a:solidFill>
                <a:latin typeface="Aptos"/>
              </a:rPr>
              <a:t>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Preference form, result cards and explanation views.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1645920"/>
            <a:ext cx="2514600" cy="306324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44584" y="1645920"/>
            <a:ext cx="2514600" cy="16459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27463" y="2057400"/>
            <a:ext cx="2148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1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1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pytest + Pillow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3" y="2724912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A9A4AD"/>
                </a:solidFill>
                <a:latin typeface="Aptos"/>
              </a:defRPr>
            </a:pPr>
            <a:r>
              <a:rPr lang="en-US" sz="1000" b="1" i="0" dirty="0">
                <a:solidFill>
                  <a:srgbClr val="A9A4AD"/>
                </a:solidFill>
                <a:latin typeface="Aptos"/>
              </a:rPr>
              <a:t>TESTING &amp;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3246120"/>
            <a:ext cx="20116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14 automated tests; image clean-up for the data set.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5166360"/>
            <a:ext cx="10241280" cy="594360"/>
          </a:xfrm>
          <a:prstGeom prst="roundRect">
            <a:avLst>
              <a:gd name="adj" fmla="val 12000"/>
            </a:avLst>
          </a:prstGeom>
          <a:solidFill>
            <a:srgbClr val="12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349240"/>
            <a:ext cx="9692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rPr lang="en-US" sz="1300" b="0" i="0" dirty="0">
                <a:solidFill>
                  <a:srgbClr val="FFFFFF"/>
                </a:solidFill>
                <a:latin typeface="Aptos"/>
              </a:rPr>
              <a:t>Run it:  pip install -r requirements.txt   →   python app.py   →   open http://127.0.0.1:5000 in a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Interface Preview &amp;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08 • UI WALKTHROUGH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583680" cy="4526280"/>
          </a:xfrm>
          <a:prstGeom prst="roundRect">
            <a:avLst>
              <a:gd name="adj" fmla="val 12000"/>
            </a:avLst>
          </a:prstGeom>
          <a:solidFill>
            <a:srgbClr val="15151B"/>
          </a:solidFill>
          <a:ln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6583680" cy="384048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1444752"/>
            <a:ext cx="100584" cy="100584"/>
          </a:xfrm>
          <a:prstGeom prst="ellipse">
            <a:avLst/>
          </a:prstGeom>
          <a:solidFill>
            <a:srgbClr val="6E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" y="1444752"/>
            <a:ext cx="100584" cy="100584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43584" y="1444752"/>
            <a:ext cx="100584" cy="100584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1417320"/>
            <a:ext cx="5166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lang="en-US" sz="1000" b="1" i="0" dirty="0">
                <a:solidFill>
                  <a:srgbClr val="FFFFFF"/>
                </a:solidFill>
                <a:latin typeface="Aptos"/>
              </a:rPr>
              <a:t>DineWise AI  |  Recommend   How it reasons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1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1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Tell us the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267712"/>
            <a:ext cx="5212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A9A4AD"/>
                </a:solidFill>
                <a:latin typeface="Aptos"/>
              </a:defRPr>
            </a:pPr>
            <a:r>
              <a:rPr lang="en-US" sz="1100" b="0" i="0" dirty="0">
                <a:solidFill>
                  <a:srgbClr val="A9A4AD"/>
                </a:solidFill>
                <a:latin typeface="Aptos"/>
              </a:rPr>
              <a:t>446 restaurants • 4 cities • 93 expert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89888" y="2907792"/>
            <a:ext cx="822960" cy="82296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44752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4F4F6"/>
                </a:solidFill>
                <a:latin typeface="Aptos"/>
              </a:defRPr>
            </a:pPr>
            <a:r>
              <a:rPr lang="en-US" sz="2200" b="0" i="0" dirty="0">
                <a:solidFill>
                  <a:srgbClr val="F4F4F6"/>
                </a:solidFill>
                <a:latin typeface="Aptos"/>
              </a:rPr>
              <a:t>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Kochi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5296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07792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83280" y="2907792"/>
            <a:ext cx="822960" cy="822960"/>
          </a:xfrm>
          <a:prstGeom prst="ellipse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38144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4F4F6"/>
                </a:solidFill>
                <a:latin typeface="Aptos"/>
              </a:defRPr>
            </a:pPr>
            <a:r>
              <a:rPr lang="en-US" sz="2200" b="0" i="0" dirty="0">
                <a:solidFill>
                  <a:srgbClr val="F4F4F6"/>
                </a:solidFill>
                <a:latin typeface="Aptos"/>
              </a:rPr>
              <a:t>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Cuisine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Cafe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901184" y="2724912"/>
            <a:ext cx="1783080" cy="2011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376672" y="2907792"/>
            <a:ext cx="822960" cy="82296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31536" y="3072384"/>
            <a:ext cx="7132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0" i="0">
                <a:solidFill>
                  <a:srgbClr val="F4F4F6"/>
                </a:solidFill>
                <a:latin typeface="Aptos"/>
              </a:defRPr>
            </a:pPr>
            <a:r>
              <a:rPr lang="en-US" sz="2200" b="0" i="0" dirty="0">
                <a:solidFill>
                  <a:srgbClr val="F4F4F6"/>
                </a:solidFill>
                <a:latin typeface="Aptos"/>
              </a:rPr>
              <a:t>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858768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2D55"/>
                </a:solidFill>
                <a:latin typeface="Aptos"/>
              </a:defRPr>
            </a:pPr>
            <a:r>
              <a:rPr lang="en-US" sz="1300" b="1" i="0" dirty="0">
                <a:solidFill>
                  <a:srgbClr val="FF2D55"/>
                </a:solidFill>
                <a:latin typeface="Aptos"/>
              </a:rPr>
              <a:t>Occasion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418795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F4F4F6"/>
                </a:solidFill>
                <a:latin typeface="Aptos"/>
              </a:defRPr>
            </a:pPr>
            <a:r>
              <a:rPr lang="en-US" sz="1000" b="0" i="0" dirty="0">
                <a:solidFill>
                  <a:srgbClr val="F4F4F6"/>
                </a:solidFill>
                <a:latin typeface="Aptos"/>
              </a:rPr>
              <a:t>Date Night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462272"/>
            <a:ext cx="1143000" cy="182880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 i="1">
                <a:solidFill>
                  <a:srgbClr val="A9A4AD"/>
                </a:solidFill>
                <a:latin typeface="Aptos"/>
              </a:defRPr>
            </a:pPr>
            <a:r>
              <a:rPr lang="en-US" sz="1000" b="0" i="1" dirty="0">
                <a:solidFill>
                  <a:srgbClr val="A9A4AD"/>
                </a:solidFill>
                <a:latin typeface="Aptos"/>
              </a:rPr>
              <a:t>Illustrative layout of the DineWise home page; screenshots of the running system follow on the next slides.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48132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USER JOURNEY</a:t>
            </a:r>
          </a:p>
        </p:txBody>
      </p:sp>
      <p:sp>
        <p:nvSpPr>
          <p:cNvPr id="37" name="Oval 36"/>
          <p:cNvSpPr/>
          <p:nvPr/>
        </p:nvSpPr>
        <p:spPr>
          <a:xfrm>
            <a:off x="7845552" y="2011680"/>
            <a:ext cx="384048" cy="384048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2093976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4F4F6"/>
                </a:solidFill>
                <a:latin typeface="Aptos"/>
              </a:defRPr>
            </a:pPr>
            <a:r>
              <a:rPr lang="en-US" sz="1100" b="1" i="0" dirty="0">
                <a:solidFill>
                  <a:srgbClr val="F4F4F6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066544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Choose city &amp; cuisine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37575" y="2395728"/>
            <a:ext cx="0" cy="310896"/>
          </a:xfrm>
          <a:prstGeom prst="line">
            <a:avLst/>
          </a:prstGeom>
          <a:ln w="2286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845552" y="2724912"/>
            <a:ext cx="384048" cy="384048"/>
          </a:xfrm>
          <a:prstGeom prst="ellipse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2807208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rPr lang="en-US" sz="11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79776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Set budget, diet &amp; group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37575" y="3108960"/>
            <a:ext cx="0" cy="310896"/>
          </a:xfrm>
          <a:prstGeom prst="line">
            <a:avLst/>
          </a:prstGeom>
          <a:ln w="2286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845552" y="3438144"/>
            <a:ext cx="384048" cy="384048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3520440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4F4F6"/>
                </a:solidFill>
                <a:latin typeface="Aptos"/>
              </a:defRPr>
            </a:pPr>
            <a:r>
              <a:rPr lang="en-US" sz="1100" b="1" i="0" dirty="0">
                <a:solidFill>
                  <a:srgbClr val="F4F4F6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493008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Pick the occasion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37575" y="3822192"/>
            <a:ext cx="0" cy="310896"/>
          </a:xfrm>
          <a:prstGeom prst="line">
            <a:avLst/>
          </a:prstGeom>
          <a:ln w="2286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845552" y="4151376"/>
            <a:ext cx="384048" cy="384048"/>
          </a:xfrm>
          <a:prstGeom prst="ellipse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4233672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rPr lang="en-US" sz="1100" b="1" i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20624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F4F4F6"/>
                </a:solidFill>
                <a:latin typeface="Aptos"/>
              </a:defRPr>
            </a:pPr>
            <a:r>
              <a:rPr lang="en-US" sz="1400" b="0" i="0" dirty="0">
                <a:solidFill>
                  <a:srgbClr val="F4F4F6"/>
                </a:solidFill>
                <a:latin typeface="Aptos"/>
              </a:rPr>
              <a:t>Get top 3 with % match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37575" y="4535424"/>
            <a:ext cx="0" cy="310896"/>
          </a:xfrm>
          <a:prstGeom prst="line">
            <a:avLst/>
          </a:prstGeom>
          <a:ln w="22860">
            <a:solidFill>
              <a:srgbClr val="FF1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845552" y="4864608"/>
            <a:ext cx="384048" cy="384048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09560" y="4946904"/>
            <a:ext cx="2560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F4F4F6"/>
                </a:solidFill>
                <a:latin typeface="Aptos"/>
              </a:defRPr>
            </a:pPr>
            <a:r>
              <a:rPr lang="en-US" sz="1100" b="1" i="0" dirty="0">
                <a:solidFill>
                  <a:srgbClr val="F4F4F6"/>
                </a:solidFill>
                <a:latin typeface="Aptos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919472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4F4F6"/>
                </a:solidFill>
                <a:latin typeface="Aptos"/>
              </a:defRPr>
            </a:pPr>
            <a:r>
              <a:rPr lang="en-US" sz="1400" b="1" i="0" dirty="0">
                <a:solidFill>
                  <a:srgbClr val="F4F4F6"/>
                </a:solidFill>
                <a:latin typeface="Aptos"/>
              </a:rPr>
              <a:t>Ask “How?” / “Why not?”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10 • QUALITY CHECKS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14 / 14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7824" y="2048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075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947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Forward chaining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221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Chained facts are derived; each rule fires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28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9944" y="2048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075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947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Conflict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221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Salience first, then the more specific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971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7824" y="3191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" y="3218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090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Certainty factors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3364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MYCIN combination gives the right % match.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971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3191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3218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3090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Pure-veg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3364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No mixed kitchen is ever recommended.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114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7824" y="4334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" y="4361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233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Relaxation &amp;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5024" y="4507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Results ranked by CF; relaxation explained.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4114800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9944" y="4334256"/>
            <a:ext cx="310896" cy="310896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4361688"/>
            <a:ext cx="256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lang="en-US" sz="1300" b="1" i="0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4233672"/>
            <a:ext cx="4160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2D55"/>
                </a:solidFill>
                <a:latin typeface="Aptos"/>
              </a:defRPr>
            </a:pPr>
            <a:r>
              <a:rPr lang="en-US" sz="1400" b="1" i="0" dirty="0">
                <a:solidFill>
                  <a:srgbClr val="FF2D55"/>
                </a:solidFill>
                <a:latin typeface="Aptos"/>
              </a:rPr>
              <a:t>Why not &amp; web pages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67144" y="4507992"/>
            <a:ext cx="4160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Rejecting rule reported; all pages render.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1">
                <a:solidFill>
                  <a:srgbClr val="A9A4AD"/>
                </a:solidFill>
                <a:latin typeface="Aptos"/>
              </a:defRPr>
            </a:pPr>
            <a:r>
              <a:rPr lang="en-US" sz="1200" b="0" i="1" dirty="0">
                <a:solidFill>
                  <a:srgbClr val="A9A4AD"/>
                </a:solidFill>
                <a:latin typeface="Aptos"/>
              </a:rPr>
              <a:t>Run with: python -m pytest -q  →  14 passed. Tests cover the engine, the recommender and the Flask web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11 • NEXT STEPS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82296" cy="4160520"/>
          </a:xfrm>
          <a:prstGeom prst="rect">
            <a:avLst/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2D55"/>
                </a:solidFill>
                <a:latin typeface="Aptos"/>
              </a:defRPr>
            </a:pPr>
            <a:r>
              <a:rPr lang="en-US" sz="1700" b="1" i="0" dirty="0">
                <a:solidFill>
                  <a:srgbClr val="FF2D55"/>
                </a:solidFill>
                <a:latin typeface="Aptos"/>
              </a:rP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482803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Rule certainty factors are set by hand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No real ratings, opening hours or distance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Rules can only be edited in the code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Covers 4 cities and 446 restaurants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82296" cy="41605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FF6B81"/>
                </a:solidFill>
                <a:latin typeface="Aptos"/>
              </a:defRPr>
            </a:pPr>
            <a:r>
              <a:rPr lang="en-US" sz="1700" b="1" i="0" dirty="0">
                <a:solidFill>
                  <a:srgbClr val="FF6B81"/>
                </a:solidFill>
                <a:latin typeface="Aptos"/>
              </a:rP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84831"/>
            <a:ext cx="4828032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Learn rule CFs from user feedback (👍 / 👎)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Add ratings, opening hours and distance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A rule editor in the browser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Compare with a content-based ML recommender</a:t>
            </a:r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500" b="0" i="0">
                <a:solidFill>
                  <a:srgbClr val="F4F4F6"/>
                </a:solidFill>
                <a:latin typeface="Aptos"/>
              </a:defRPr>
            </a:pPr>
            <a:r>
              <a:rPr lang="en-US" sz="1500" b="0" i="0" dirty="0">
                <a:solidFill>
                  <a:srgbClr val="F4F4F6"/>
                </a:solidFill>
                <a:latin typeface="Aptos"/>
              </a:rPr>
              <a:t>• Expand to more cities with live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70448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1">
                <a:solidFill>
                  <a:srgbClr val="A9A4AD"/>
                </a:solidFill>
                <a:latin typeface="Aptos"/>
              </a:defRPr>
            </a:pPr>
            <a:r>
              <a:rPr lang="en-US" sz="1100" b="0" i="1" dirty="0">
                <a:solidFill>
                  <a:srgbClr val="A9A4AD"/>
                </a:solidFill>
                <a:latin typeface="Aptos"/>
              </a:rPr>
              <a:t>The proposed enhancements describe future scope, not features claimed as already implemented.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468880" cy="797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00200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100" b="1" i="0">
                <a:solidFill>
                  <a:srgbClr val="FF6B81"/>
                </a:solidFill>
                <a:latin typeface="Aptos"/>
              </a:defRPr>
            </a:pPr>
            <a:r>
              <a:rPr lang="en-US" sz="3100" b="1" i="0" dirty="0">
                <a:solidFill>
                  <a:srgbClr val="FF6B81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0" i="0">
                <a:solidFill>
                  <a:srgbClr val="FFFFFF"/>
                </a:solidFill>
                <a:latin typeface="Aptos"/>
              </a:defRPr>
            </a:pPr>
            <a:r>
              <a:rPr lang="en-US" sz="2200" b="0" i="0" dirty="0">
                <a:solidFill>
                  <a:srgbClr val="FFFFFF"/>
                </a:solidFill>
                <a:latin typeface="Aptos"/>
              </a:rPr>
              <a:t>DineWise AI shows how a forward-chaining expert system with certainty factors can recommend restaurants and explain every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11480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F6B81"/>
                </a:solidFill>
                <a:latin typeface="Aptos"/>
              </a:defRPr>
            </a:pPr>
            <a:r>
              <a:rPr lang="en-US" sz="1400" b="1" i="0" dirty="0">
                <a:solidFill>
                  <a:srgbClr val="FF6B81"/>
                </a:solidFill>
                <a:latin typeface="Aptos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98848"/>
            <a:ext cx="56692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 i="0">
                <a:solidFill>
                  <a:srgbClr val="DCD6D9"/>
                </a:solidFill>
                <a:latin typeface="Aptos"/>
              </a:defRPr>
            </a:pPr>
            <a:r>
              <a:rPr lang="en-US" sz="1600" b="0" i="0" dirty="0">
                <a:solidFill>
                  <a:srgbClr val="DCD6D9"/>
                </a:solidFill>
                <a:latin typeface="Aptos"/>
              </a:rPr>
              <a:t>• Knowledge kept separate from the engine</a:t>
            </a:r>
          </a:p>
          <a:p>
            <a:pPr>
              <a:spcAft>
                <a:spcPts val="600"/>
              </a:spcAft>
              <a:defRPr sz="1600" b="0" i="0">
                <a:solidFill>
                  <a:srgbClr val="DCD6D9"/>
                </a:solidFill>
                <a:latin typeface="Aptos"/>
              </a:defRPr>
            </a:pPr>
            <a:r>
              <a:rPr lang="en-US" sz="1600" b="0" i="0" dirty="0">
                <a:solidFill>
                  <a:srgbClr val="DCD6D9"/>
                </a:solidFill>
                <a:latin typeface="Aptos"/>
              </a:rPr>
              <a:t>• Certainty factors turn evidence into % match</a:t>
            </a:r>
          </a:p>
          <a:p>
            <a:pPr>
              <a:spcAft>
                <a:spcPts val="600"/>
              </a:spcAft>
              <a:defRPr sz="1600" b="0" i="0">
                <a:solidFill>
                  <a:srgbClr val="DCD6D9"/>
                </a:solidFill>
                <a:latin typeface="Aptos"/>
              </a:defRPr>
            </a:pPr>
            <a:r>
              <a:rPr lang="en-US" sz="1600" b="0" i="0" dirty="0">
                <a:solidFill>
                  <a:srgbClr val="DCD6D9"/>
                </a:solidFill>
                <a:latin typeface="Aptos"/>
              </a:rPr>
              <a:t>• Explanations make every result transparent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429000" cy="3017520"/>
          </a:xfrm>
          <a:prstGeom prst="roundRect">
            <a:avLst>
              <a:gd name="adj" fmla="val 12000"/>
            </a:avLst>
          </a:prstGeom>
          <a:solidFill>
            <a:srgbClr val="1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560320"/>
            <a:ext cx="2880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rPr lang="en-US" sz="2900" b="1" i="0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3375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0" i="0">
                <a:solidFill>
                  <a:srgbClr val="FF6B81"/>
                </a:solidFill>
                <a:latin typeface="Aptos"/>
              </a:defRPr>
            </a:pPr>
            <a:r>
              <a:rPr lang="en-US" sz="1600" b="0" i="0" dirty="0">
                <a:solidFill>
                  <a:srgbClr val="FF6B8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977639"/>
            <a:ext cx="2651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D4CCD0"/>
                </a:solidFill>
                <a:latin typeface="Aptos"/>
              </a:defRPr>
            </a:pPr>
            <a:r>
              <a:rPr lang="en-US" sz="1100" b="0" i="0" dirty="0">
                <a:solidFill>
                  <a:srgbClr val="D4CCD0"/>
                </a:solidFill>
                <a:latin typeface="Aptos"/>
              </a:rPr>
              <a:t>DineWise AI • Project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44768"/>
            <a:ext cx="7498079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D4CCD0"/>
                </a:solidFill>
                <a:latin typeface="Aptos"/>
              </a:defRPr>
            </a:pPr>
            <a:r>
              <a:rPr lang="en-US" sz="1100" b="0" i="0" dirty="0">
                <a:solidFill>
                  <a:srgbClr val="D4CCD0"/>
                </a:solidFill>
                <a:latin typeface="Aptos"/>
              </a:rPr>
              <a:t>Presented by [</a:t>
            </a:r>
            <a:r>
              <a:rPr lang="en-US" sz="1100" b="0" i="0" dirty="0">
                <a:solidFill>
                  <a:srgbClr val="D4CCD0"/>
                </a:solidFill>
                <a:latin typeface="Aptos"/>
              </a:rPr>
              <a:t>Your Name</a:t>
            </a:r>
            <a:r>
              <a:rPr lang="en-US" sz="1100" b="0" i="0" dirty="0">
                <a:solidFill>
                  <a:srgbClr val="D4CCD0"/>
                </a:solidFill>
                <a:latin typeface="Aptos"/>
              </a:rPr>
              <a:t>]  |  Reg. No. [</a:t>
            </a:r>
            <a:r>
              <a:rPr lang="en-US" sz="1100" b="0" i="0" dirty="0">
                <a:solidFill>
                  <a:srgbClr val="D4CCD0"/>
                </a:solidFill>
                <a:latin typeface="Aptos"/>
              </a:rPr>
              <a:t>Reg. No.</a:t>
            </a:r>
            <a:r>
              <a:rPr lang="en-US" sz="1100" b="0" i="0" dirty="0">
                <a:solidFill>
                  <a:srgbClr val="D4CCD0"/>
                </a:solidFill>
                <a:latin typeface="Apto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1447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100" b="1" i="0">
                <a:solidFill>
                  <a:srgbClr val="FF6B81"/>
                </a:solidFill>
                <a:latin typeface="Aptos"/>
              </a:defRPr>
            </a:pPr>
            <a:r>
              <a:rPr lang="en-US" sz="1100" b="1" i="0" dirty="0">
                <a:solidFill>
                  <a:srgbClr val="FF6B81"/>
                </a:solidFill>
                <a:latin typeface="Aptos"/>
              </a:rPr>
              <a:t>Rajalakshmi Engineering College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Knowledge Base &amp; Rule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05 • KNOWLEDGE REPRESENTATION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Fact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446 restaurants in 4 cities and 20 cuisines (restaurants.csv).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Profile rules (P)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Turn diner input into needs, e.g. date night → romantic.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4813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85632" y="16642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8105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6824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Derivation rules (D)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1031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Infer restaurant traits, e.g. cafe → cozy ambience.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7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Fit rules (F)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Join needs and traits, e.g. cozy + cozy → good fit.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63440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4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0016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lang="en-US" sz="1200" b="1" i="0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Evidence rules (E)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Add certainty factors from −1 to +1 to the score.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02752" y="3538728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85632" y="372160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386791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F4F4F6"/>
                </a:solidFill>
                <a:latin typeface="Aptos"/>
              </a:defRPr>
            </a:pPr>
            <a:r>
              <a:rPr lang="en-US" sz="1200" b="1" i="0" dirty="0">
                <a:solidFill>
                  <a:srgbClr val="F4F4F6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739896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Rejection rules (X)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160520"/>
            <a:ext cx="2267712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F4F4F6"/>
                </a:solidFill>
                <a:latin typeface="Aptos"/>
              </a:defRPr>
            </a:pPr>
            <a:r>
              <a:rPr lang="en-US" sz="1200" b="0" i="0" dirty="0">
                <a:solidFill>
                  <a:srgbClr val="F4F4F6"/>
                </a:solidFill>
                <a:latin typeface="Aptos"/>
              </a:rPr>
              <a:t>Hard limits such as wrong city or not pure veg.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1">
                <a:solidFill>
                  <a:srgbClr val="A9A4AD"/>
                </a:solidFill>
                <a:latin typeface="Aptos"/>
              </a:defRPr>
            </a:pPr>
            <a:r>
              <a:rPr lang="en-US" sz="1100" b="0" i="1" dirty="0">
                <a:solidFill>
                  <a:srgbClr val="A9A4AD"/>
                </a:solidFill>
                <a:latin typeface="Aptos"/>
              </a:rPr>
              <a:t>Facts are attribute=value pairs (u.budget=low, r.cuisine=cafe). Stage 1 runs 24 profile rules once; Stage 2 runs 69 restaurant rules (M, D, F, E, X) on every restaurant.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Output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09 • OUTPUT SCREENS (CONTD.)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11</a:t>
            </a:r>
          </a:p>
        </p:txBody>
      </p:sp>
      <p:sp>
        <p:nvSpPr>
          <p:cNvPr id="20" name="Card 1"/>
          <p:cNvSpPr/>
          <p:nvPr/>
        </p:nvSpPr>
        <p:spPr>
          <a:xfrm>
            <a:off x="59436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Screenshot 1" descr="Top 3 recommendations screenshot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3152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2" name="Caption 1"/>
          <p:cNvSpPr txBox="1"/>
          <p:nvPr/>
        </p:nvSpPr>
        <p:spPr>
          <a:xfrm>
            <a:off x="73152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Top 3 recommendations</a:t>
            </a:r>
          </a:p>
        </p:txBody>
      </p:sp>
      <p:sp>
        <p:nvSpPr>
          <p:cNvPr id="23" name="Caption text 1"/>
          <p:cNvSpPr txBox="1"/>
          <p:nvPr/>
        </p:nvSpPr>
        <p:spPr>
          <a:xfrm>
            <a:off x="73152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Each card shows the % match and the evidence rules behind it.</a:t>
            </a:r>
          </a:p>
        </p:txBody>
      </p:sp>
      <p:sp>
        <p:nvSpPr>
          <p:cNvPr id="24" name="Card 2"/>
          <p:cNvSpPr/>
          <p:nvPr/>
        </p:nvSpPr>
        <p:spPr>
          <a:xfrm>
            <a:off x="628650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Screenshot 2" descr="Why the others were filtered out screenshot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42366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6" name="Caption 2"/>
          <p:cNvSpPr txBox="1"/>
          <p:nvPr/>
        </p:nvSpPr>
        <p:spPr>
          <a:xfrm>
            <a:off x="642366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Why the others were filtered out</a:t>
            </a:r>
          </a:p>
        </p:txBody>
      </p:sp>
      <p:sp>
        <p:nvSpPr>
          <p:cNvPr id="27" name="Caption text 2"/>
          <p:cNvSpPr txBox="1"/>
          <p:nvPr/>
        </p:nvSpPr>
        <p:spPr>
          <a:xfrm>
            <a:off x="642366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Rejection statistics and the “Why not a different restaurant?” tool.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Output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09 • OUTPUT SCREENS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10</a:t>
            </a:r>
          </a:p>
        </p:txBody>
      </p:sp>
      <p:sp>
        <p:nvSpPr>
          <p:cNvPr id="20" name="Card 1"/>
          <p:cNvSpPr/>
          <p:nvPr/>
        </p:nvSpPr>
        <p:spPr>
          <a:xfrm>
            <a:off x="59436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Screenshot 1" descr="Home: diner preferences screenshot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3152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2" name="Caption 1"/>
          <p:cNvSpPr txBox="1"/>
          <p:nvPr/>
        </p:nvSpPr>
        <p:spPr>
          <a:xfrm>
            <a:off x="73152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Home: diner preferences</a:t>
            </a:r>
          </a:p>
        </p:txBody>
      </p:sp>
      <p:sp>
        <p:nvSpPr>
          <p:cNvPr id="23" name="Caption text 1"/>
          <p:cNvSpPr txBox="1"/>
          <p:nvPr/>
        </p:nvSpPr>
        <p:spPr>
          <a:xfrm>
            <a:off x="73152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City, cuisine, budget, food, group, occasion and the must-have choice.</a:t>
            </a:r>
          </a:p>
        </p:txBody>
      </p:sp>
      <p:sp>
        <p:nvSpPr>
          <p:cNvPr id="24" name="Card 2"/>
          <p:cNvSpPr/>
          <p:nvPr/>
        </p:nvSpPr>
        <p:spPr>
          <a:xfrm>
            <a:off x="628650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Screenshot 2" descr="Stage 1: profile inferences screenshot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42366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6" name="Caption 2"/>
          <p:cNvSpPr txBox="1"/>
          <p:nvPr/>
        </p:nvSpPr>
        <p:spPr>
          <a:xfrm>
            <a:off x="642366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Stage 1: profile inferences</a:t>
            </a:r>
          </a:p>
        </p:txBody>
      </p:sp>
      <p:sp>
        <p:nvSpPr>
          <p:cNvPr id="27" name="Caption text 2"/>
          <p:cNvSpPr txBox="1"/>
          <p:nvPr/>
        </p:nvSpPr>
        <p:spPr>
          <a:xfrm>
            <a:off x="642366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Rules fired for the diner, e.g. date night → romantic → cozy.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 i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defRPr>
            </a:pPr>
            <a:r>
              <a:rPr lang="en-US" sz="2700" b="1" i="0" dirty="0">
                <a:solidFill>
                  <a:srgbClr val="FF2D55"/>
                </a:solidFill>
                <a:effectLst>
                  <a:glow rad="101600">
                    <a:srgbClr val="FF1744">
                      <a:alpha val="45000"/>
                    </a:srgbClr>
                  </a:glow>
                </a:effectLst>
                <a:latin typeface="Aptos"/>
              </a:rPr>
              <a:t>Output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 i="0">
                <a:solidFill>
                  <a:srgbClr val="A9A4AD"/>
                </a:solidFill>
                <a:latin typeface="Aptos"/>
              </a:defRPr>
            </a:pPr>
            <a:r>
              <a:rPr lang="en-US" sz="900" b="1" i="0" dirty="0">
                <a:solidFill>
                  <a:srgbClr val="A9A4AD"/>
                </a:solidFill>
                <a:latin typeface="Aptos"/>
              </a:rPr>
              <a:t>09 • OUTPUT SCREENS (CONTD.)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"/>
            <a:ext cx="1783080" cy="5759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3A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046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800" b="0" i="0">
                <a:solidFill>
                  <a:srgbClr val="A9A4AD"/>
                </a:solidFill>
                <a:latin typeface="Aptos"/>
              </a:defRPr>
            </a:pPr>
            <a:r>
              <a:rPr lang="en-US" sz="800" b="0" i="0" dirty="0">
                <a:solidFill>
                  <a:srgbClr val="A9A4AD"/>
                </a:solidFill>
                <a:latin typeface="Aptos"/>
              </a:rPr>
              <a:t>RAJALAKSHMI ENGINEERING COLLEGE  •  CSE (CYBER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FF2D55"/>
                </a:solidFill>
                <a:latin typeface="Aptos"/>
              </a:defRPr>
            </a:pPr>
            <a:r>
              <a:rPr lang="en-US" sz="900" b="1" i="0" dirty="0">
                <a:solidFill>
                  <a:srgbClr val="FF2D55"/>
                </a:solidFill>
                <a:latin typeface="Aptos"/>
              </a:rPr>
              <a:t>12</a:t>
            </a:r>
          </a:p>
        </p:txBody>
      </p:sp>
      <p:sp>
        <p:nvSpPr>
          <p:cNvPr id="20" name="Card 1"/>
          <p:cNvSpPr/>
          <p:nvPr/>
        </p:nvSpPr>
        <p:spPr>
          <a:xfrm>
            <a:off x="59436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Screenshot 1" descr="“Why not?” verdict screenshot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3152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2" name="Caption 1"/>
          <p:cNvSpPr txBox="1"/>
          <p:nvPr/>
        </p:nvSpPr>
        <p:spPr>
          <a:xfrm>
            <a:off x="73152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“Why not?” verdict</a:t>
            </a:r>
          </a:p>
        </p:txBody>
      </p:sp>
      <p:sp>
        <p:nvSpPr>
          <p:cNvPr id="23" name="Caption text 1"/>
          <p:cNvSpPr txBox="1"/>
          <p:nvPr/>
        </p:nvSpPr>
        <p:spPr>
          <a:xfrm>
            <a:off x="73152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Dragon Wok Kochi is rejected by rule X02: wrong cuisine.</a:t>
            </a:r>
          </a:p>
        </p:txBody>
      </p:sp>
      <p:sp>
        <p:nvSpPr>
          <p:cNvPr id="24" name="Card 2"/>
          <p:cNvSpPr/>
          <p:nvPr/>
        </p:nvSpPr>
        <p:spPr>
          <a:xfrm>
            <a:off x="6286500" y="1417320"/>
            <a:ext cx="5326380" cy="4164060"/>
          </a:xfrm>
          <a:prstGeom prst="roundRect">
            <a:avLst>
              <a:gd name="adj" fmla="val 12000"/>
            </a:avLst>
          </a:prstGeom>
          <a:solidFill>
            <a:srgbClr val="18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Screenshot 2" descr="Inference trace screenshot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423660" y="1554480"/>
            <a:ext cx="5052060" cy="2999660"/>
          </a:xfrm>
          <a:prstGeom prst="roundRect">
            <a:avLst>
              <a:gd name="adj" fmla="val 4000"/>
            </a:avLst>
          </a:prstGeom>
          <a:ln w="12700">
            <a:solidFill>
              <a:srgbClr val="FF1744"/>
            </a:solidFill>
          </a:ln>
        </p:spPr>
      </p:pic>
      <p:sp>
        <p:nvSpPr>
          <p:cNvPr id="26" name="Caption 2"/>
          <p:cNvSpPr txBox="1"/>
          <p:nvPr/>
        </p:nvSpPr>
        <p:spPr>
          <a:xfrm>
            <a:off x="6423660" y="4714140"/>
            <a:ext cx="50520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FF2D55"/>
                </a:solidFill>
                <a:latin typeface="Aptos"/>
              </a:defRPr>
            </a:pPr>
            <a:r>
              <a:rPr lang="en-US" sz="1500" b="1" i="0" dirty="0">
                <a:solidFill>
                  <a:srgbClr val="FF2D55"/>
                </a:solidFill>
                <a:latin typeface="Aptos"/>
              </a:rPr>
              <a:t>Inference trace</a:t>
            </a:r>
          </a:p>
        </p:txBody>
      </p:sp>
      <p:sp>
        <p:nvSpPr>
          <p:cNvPr id="27" name="Caption text 2"/>
          <p:cNvSpPr txBox="1"/>
          <p:nvPr/>
        </p:nvSpPr>
        <p:spPr>
          <a:xfrm>
            <a:off x="6423660" y="5064180"/>
            <a:ext cx="50520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 i="0">
                <a:solidFill>
                  <a:srgbClr val="F4F4F6"/>
                </a:solidFill>
                <a:latin typeface="Aptos"/>
              </a:defRPr>
            </a:pPr>
            <a:r>
              <a:rPr lang="en-US" sz="1100" b="0" i="0" dirty="0">
                <a:solidFill>
                  <a:srgbClr val="F4F4F6"/>
                </a:solidFill>
                <a:latin typeface="Aptos"/>
              </a:rPr>
              <a:t>Each cycle lists the rule fired, the conflict set and the facts added.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0A0D"/>
      </a:dk2>
      <a:lt2>
        <a:srgbClr val="EEECE1"/>
      </a:lt2>
      <a:accent1>
        <a:srgbClr val="FF1744"/>
      </a:accent1>
      <a:accent2>
        <a:srgbClr val="C4002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glow rad="76200">
              <a:srgbClr val="FF1744">
                <a:alpha val="28000"/>
              </a:srgbClr>
            </a:glo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1068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V</cp:lastModifiedBy>
  <cp:revision>2</cp:revision>
  <dcterms:created xsi:type="dcterms:W3CDTF">2013-01-27T09:14:16Z</dcterms:created>
  <dcterms:modified xsi:type="dcterms:W3CDTF">2026-10-15T04:51:52Z</dcterms:modified>
  <cp:category/>
</cp:coreProperties>
</file>